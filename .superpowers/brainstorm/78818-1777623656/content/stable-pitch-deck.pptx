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20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080"/>
                </a:solidFill>
              </a:rPr>
              <a:t>01 /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E1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114800"/>
          </a:xfrm>
          <a:prstGeom prst="rect">
            <a:avLst/>
          </a:prstGeom>
          <a:solidFill>
            <a:srgbClr val="0A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916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ADHD &amp; FOCUS PRODUCTIVITY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840480"/>
            <a:ext cx="3931920" cy="548640"/>
          </a:xfrm>
          <a:prstGeom prst="rect">
            <a:avLst/>
          </a:prstGeom>
          <a:solidFill>
            <a:srgbClr val="6366F1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38404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INVESTMENT OPPORTUNITY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0080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080"/>
                </a:solidFill>
              </a:rPr>
              <a:t>CONFIDENTIAL · FOR QUALIFIED BUYERS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20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080"/>
                </a:solidFill>
              </a:rPr>
              <a:t>02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Most productivity apps fail ADHD brains.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48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566160" cy="3657600"/>
          </a:xfrm>
          <a:prstGeom prst="rect">
            <a:avLst/>
          </a:prstGeom>
          <a:solidFill>
            <a:srgbClr val="16122E"/>
          </a:solidFill>
          <a:ln w="1270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87171"/>
                </a:solidFill>
              </a:rPr>
              <a:t>366M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Adults worldwide with ADHD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The most underserved segment in the productivity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19" y="1920240"/>
            <a:ext cx="3566160" cy="3657600"/>
          </a:xfrm>
          <a:prstGeom prst="rect">
            <a:avLst/>
          </a:prstGeom>
          <a:solidFill>
            <a:srgbClr val="16122E"/>
          </a:solidFill>
          <a:ln w="1270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2103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87171"/>
                </a:solidFill>
              </a:rPr>
              <a:t>~$0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Apps built specifically for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566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Existing tools (Todoist, Notion, Asana) overwhelm ADHD users with complexity.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1920240"/>
            <a:ext cx="3566160" cy="3657600"/>
          </a:xfrm>
          <a:prstGeom prst="rect">
            <a:avLst/>
          </a:prstGeom>
          <a:solidFill>
            <a:srgbClr val="16122E"/>
          </a:solidFill>
          <a:ln w="1270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8" y="2103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8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Abandon general productivity apps within 30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3566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Too many features. Too much friction. Not built for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20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080"/>
                </a:solidFill>
              </a:rPr>
              <a:t>03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stable. — the focus app
built for ADHD adults.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48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Three tasks. That's it. — radical simplicity ADHD brains love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42032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AI insight card — personalised daily coaching, no setup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72384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2666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Task categories — Work, Personal, Family, Health, Other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02736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5701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Focus sessions — built-in Pomodoro-style timer +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33088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873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Smart reminders — snooze, dismiss, recurring options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Light + dark mode — polished, professional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93792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480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Web + Mobile (Expo) — works on every device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640080"/>
            <a:ext cx="3108960" cy="5760720"/>
          </a:xfrm>
          <a:prstGeom prst="rect">
            <a:avLst/>
          </a:prstGeom>
          <a:solidFill>
            <a:srgbClr val="120E24"/>
          </a:solidFill>
          <a:ln w="19050">
            <a:solidFill>
              <a:srgbClr val="2A1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640080"/>
            <a:ext cx="3108960" cy="1463040"/>
          </a:xfrm>
          <a:prstGeom prst="rect">
            <a:avLst/>
          </a:prstGeom>
          <a:solidFill>
            <a:srgbClr val="4F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080"/>
                </a:solidFill>
              </a:rPr>
              <a:t>TODAY'S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1051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Three things.
That's 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2240280"/>
            <a:ext cx="2834640" cy="868680"/>
          </a:xfrm>
          <a:prstGeom prst="rect">
            <a:avLst/>
          </a:prstGeom>
          <a:solidFill>
            <a:srgbClr val="1A1535"/>
          </a:solidFill>
          <a:ln w="635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2240280"/>
            <a:ext cx="54864" cy="868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Review Q2 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78BFA"/>
                </a:solidFill>
              </a:rPr>
              <a:t>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3246120"/>
            <a:ext cx="2834640" cy="868680"/>
          </a:xfrm>
          <a:prstGeom prst="rect">
            <a:avLst/>
          </a:prstGeom>
          <a:solidFill>
            <a:srgbClr val="1A1535"/>
          </a:solidFill>
          <a:ln w="635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49640" y="3246120"/>
            <a:ext cx="54864" cy="868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Book check-up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78BFA"/>
                </a:solidFill>
              </a:rPr>
              <a:t>Family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4251960"/>
            <a:ext cx="2834640" cy="868680"/>
          </a:xfrm>
          <a:prstGeom prst="rect">
            <a:avLst/>
          </a:prstGeom>
          <a:solidFill>
            <a:srgbClr val="1A1535"/>
          </a:solidFill>
          <a:ln w="635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9640" y="4251960"/>
            <a:ext cx="54864" cy="8686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30 min walk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78BFA"/>
                </a:solidFill>
              </a:rPr>
              <a:t>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20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080"/>
                </a:solidFill>
              </a:rPr>
              <a:t>04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 $25 billion market with no clear winner.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743200" cy="2377440"/>
          </a:xfrm>
          <a:prstGeom prst="rect">
            <a:avLst/>
          </a:prstGeom>
          <a:solidFill>
            <a:srgbClr val="1612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6366F1"/>
                </a:solidFill>
              </a:rPr>
              <a:t>366M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Adults
with ADHD globally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28800"/>
            <a:ext cx="2743200" cy="2377440"/>
          </a:xfrm>
          <a:prstGeom prst="rect">
            <a:avLst/>
          </a:prstGeom>
          <a:solidFill>
            <a:srgbClr val="16122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855F7"/>
                </a:solidFill>
              </a:rPr>
              <a:t>$25B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ADHD management
market by 2030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2743200" cy="2377440"/>
          </a:xfrm>
          <a:prstGeom prst="rect">
            <a:avLst/>
          </a:prstGeom>
          <a:solidFill>
            <a:srgbClr val="1612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78BFA"/>
                </a:solidFill>
              </a:rPr>
              <a:t>$85B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Productivity app
market by 2027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828800"/>
            <a:ext cx="2743200" cy="2377440"/>
          </a:xfrm>
          <a:prstGeom prst="rect">
            <a:avLst/>
          </a:prstGeom>
          <a:solidFill>
            <a:srgbClr val="1612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1920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ADE80"/>
                </a:solidFill>
              </a:rPr>
              <a:t>~10%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Of adults have
ADHD-adjacent traits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89120"/>
            <a:ext cx="10972800" cy="1463040"/>
          </a:xfrm>
          <a:prstGeom prst="rect">
            <a:avLst/>
          </a:prstGeom>
          <a:solidFill>
            <a:srgbClr val="161235"/>
          </a:solidFill>
          <a:ln w="12700">
            <a:solidFill>
              <a:srgbClr val="363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CC"/>
                </a:solidFill>
              </a:rPr>
              <a:t>No dominant player in ADHD-specific productivity.
Closest competitors (Focusmate, Inflow) are single-feature or coaching-only.
stable. is the only AI-powered, full-stack focus OS for ADHD adults.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20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080"/>
                </a:solidFill>
              </a:rPr>
              <a:t>05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PRODUCT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Built, deployed, ready to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03520" cy="1371600"/>
          </a:xfrm>
          <a:prstGeom prst="rect">
            <a:avLst/>
          </a:prstGeom>
          <a:solidFill>
            <a:srgbClr val="0C1F15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</a:rPr>
              <a:t>✅  Web App —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Next.js 15 deployed on Vercel. Full auth, database, real-time API. All 4 core features complete.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37560"/>
            <a:ext cx="5303520" cy="1371600"/>
          </a:xfrm>
          <a:prstGeom prst="rect">
            <a:avLst/>
          </a:prstGeom>
          <a:solidFill>
            <a:srgbClr val="1C160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🚧  Mobile App — In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React Native (Expo). Shares same design system and API. iOS + Android support.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TECH 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240280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212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CC"/>
                </a:solidFill>
              </a:rPr>
              <a:t>Next.js 15 + TypeScript — modern scalable frontend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743200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715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CC"/>
                </a:solidFill>
              </a:rPr>
              <a:t>tRPC + React Query — fully type-safe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246120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3218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CC"/>
                </a:solidFill>
              </a:rPr>
              <a:t>Supabase (PostgreSQL) — managed, instant scaling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749040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7216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CC"/>
                </a:solidFill>
              </a:rPr>
              <a:t>Clerk — enterprise-grade authentication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42245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CC"/>
                </a:solidFill>
              </a:rPr>
              <a:t>Vercel — zero-config global deployment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754880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727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CC"/>
                </a:solidFill>
              </a:rPr>
              <a:t>Expo (React Native) — iOS + Android from one codebase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5257800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5230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CC"/>
                </a:solidFill>
              </a:rPr>
              <a:t>pnpm monorepo — shared code across web and mobile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20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080"/>
                </a:solidFill>
              </a:rPr>
              <a:t>06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MONETISATION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Four tiers. Freemium to enterprise.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788920" cy="4480560"/>
          </a:xfrm>
          <a:prstGeom prst="rect">
            <a:avLst/>
          </a:prstGeom>
          <a:solidFill>
            <a:srgbClr val="2A2050"/>
          </a:solidFill>
          <a:ln w="12700">
            <a:solidFill>
              <a:srgbClr val="6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080"/>
                </a:solidFill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£0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080"/>
                </a:solidFill>
              </a:rPr>
              <a:t>/forever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3 active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6674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1 focus session/day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87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Basic reminders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079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Light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874519"/>
            <a:ext cx="2788920" cy="4480560"/>
          </a:xfrm>
          <a:prstGeom prst="rect">
            <a:avLst/>
          </a:prstGeom>
          <a:solidFill>
            <a:srgbClr val="1E1A5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965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2860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£7.99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880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080"/>
                </a:solidFill>
              </a:rPr>
              <a:t>/month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246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Unlimited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66674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All 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087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Full AI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5079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Focus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92861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Dark + light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5349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Priority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1874519"/>
            <a:ext cx="2788920" cy="4480560"/>
          </a:xfrm>
          <a:prstGeom prst="rect">
            <a:avLst/>
          </a:prstGeom>
          <a:solidFill>
            <a:srgbClr val="1A124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965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55F7"/>
                </a:solidFill>
              </a:rPr>
              <a:t>FAMILY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2860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£13.99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880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080"/>
                </a:solidFill>
              </a:rPr>
              <a:t>/month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246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Everything in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66674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4 user accounts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087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Family reminders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5079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Shared tasks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1874519"/>
            <a:ext cx="2788920" cy="4480560"/>
          </a:xfrm>
          <a:prstGeom prst="rect">
            <a:avLst/>
          </a:prstGeom>
          <a:solidFill>
            <a:srgbClr val="1C160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1965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22860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£6.99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2880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080"/>
                </a:solidFill>
              </a:rPr>
              <a:t>/user/month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3246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Everything in 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66674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Team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4087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Admin controls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45079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Invoiced billing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492861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CC"/>
                </a:solidFill>
              </a:rPr>
              <a:t>✓  ADHD onboarding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1737360"/>
            <a:ext cx="1463040" cy="256032"/>
          </a:xfrm>
          <a:prstGeom prst="rect">
            <a:avLst/>
          </a:prstGeom>
          <a:solidFill>
            <a:srgbClr val="6366F1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17190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MOST POPULAR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20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080"/>
                </a:solidFill>
              </a:rPr>
              <a:t>07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REVENUE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£1M+ ARR reachable within 36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080"/>
                </a:solidFill>
              </a:rPr>
              <a:t>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080"/>
                </a:solidFill>
              </a:rPr>
              <a:t>PAID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080"/>
                </a:solidFill>
              </a:rPr>
              <a:t>AVG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080"/>
                </a:solidFill>
              </a:rPr>
              <a:t>ANNUAL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10881360" cy="19050"/>
          </a:xfrm>
          <a:prstGeom prst="rect">
            <a:avLst/>
          </a:prstGeom>
          <a:solidFill>
            <a:srgbClr val="2A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10881360" cy="685800"/>
          </a:xfrm>
          <a:prstGeom prst="rect">
            <a:avLst/>
          </a:prstGeom>
          <a:solidFill>
            <a:srgbClr val="1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Month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£7.99 /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£19,200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154680"/>
            <a:ext cx="10881360" cy="685800"/>
          </a:xfrm>
          <a:prstGeom prst="rect">
            <a:avLst/>
          </a:prstGeom>
          <a:solidFill>
            <a:srgbClr val="16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Year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£7.99 /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£57,500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86200"/>
            <a:ext cx="10881360" cy="685800"/>
          </a:xfrm>
          <a:prstGeom prst="rect">
            <a:avLst/>
          </a:prstGeom>
          <a:solidFill>
            <a:srgbClr val="1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Year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023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3,000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£8.50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£306,000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617720"/>
            <a:ext cx="10881360" cy="685800"/>
          </a:xfrm>
          <a:prstGeom prst="rect">
            <a:avLst/>
          </a:prstGeom>
          <a:solidFill>
            <a:srgbClr val="16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Year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754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£8.99 / 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£1,080,000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69880" y="1828800"/>
            <a:ext cx="1463040" cy="1371600"/>
          </a:xfrm>
          <a:prstGeom prst="rect">
            <a:avLst/>
          </a:prstGeom>
          <a:solidFill>
            <a:srgbClr val="16122E"/>
          </a:solidFill>
          <a:ln w="1270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19202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080"/>
                </a:solidFill>
              </a:rPr>
              <a:t>Growth via organic channels
(App Store SEO, ADHD communities)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69880" y="3337560"/>
            <a:ext cx="1463040" cy="1371600"/>
          </a:xfrm>
          <a:prstGeom prst="rect">
            <a:avLst/>
          </a:prstGeom>
          <a:solidFill>
            <a:srgbClr val="16122E"/>
          </a:solidFill>
          <a:ln w="1270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34290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080"/>
                </a:solidFill>
              </a:rPr>
              <a:t>~95% gross margin at scale
(SaaS infra ~£400/mo at 10k users)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69880" y="4846320"/>
            <a:ext cx="1463040" cy="1371600"/>
          </a:xfrm>
          <a:prstGeom prst="rect">
            <a:avLst/>
          </a:prstGeom>
          <a:solidFill>
            <a:srgbClr val="16122E"/>
          </a:solidFill>
          <a:ln w="1270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493776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080"/>
                </a:solidFill>
              </a:rPr>
              <a:t>Target &lt;4% monthly churn
(users who find a system, stick with 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20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080"/>
                </a:solidFill>
              </a:rPr>
              <a:t>08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No one owns this space yet.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566160" cy="2743200"/>
          </a:xfrm>
          <a:prstGeom prst="rect">
            <a:avLst/>
          </a:prstGeom>
          <a:solidFill>
            <a:srgbClr val="16122E"/>
          </a:solidFill>
          <a:ln w="1270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Todoist / Any.do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General productivity. Complex, feature-heavy. No ADHD focus. No AI coaching. Not mobile-first emotional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✕  Not built for ADHD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19" y="1874519"/>
            <a:ext cx="3566160" cy="2743200"/>
          </a:xfrm>
          <a:prstGeom prst="rect">
            <a:avLst/>
          </a:prstGeom>
          <a:solidFill>
            <a:srgbClr val="16122E"/>
          </a:solidFill>
          <a:ln w="1270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Focusmate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423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Body-doubling sessions. Single feature. No task management, no AI, no reminders. Different use case entirely.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✕  Single-feature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1874519"/>
            <a:ext cx="3566160" cy="2743200"/>
          </a:xfrm>
          <a:prstGeom prst="rect">
            <a:avLst/>
          </a:prstGeom>
          <a:solidFill>
            <a:srgbClr val="16122E"/>
          </a:solidFill>
          <a:ln w="1270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8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Inflow / Numo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8" y="2423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ADHD coaching apps. Heavy on content, light on execution tools. Expensive (£40–60/mo). No task + focus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✕  Coaching only, too costly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92040"/>
            <a:ext cx="10972800" cy="1371600"/>
          </a:xfrm>
          <a:prstGeom prst="rect">
            <a:avLst/>
          </a:prstGeom>
          <a:solidFill>
            <a:srgbClr val="1A164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stable. — the only AI-powered ADHD focus 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080"/>
                </a:solidFill>
              </a:rPr>
              <a:t>Full task management + AI daily coaching + focus sessions + reminders. One app. One price. Built for ADHD brains.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20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080"/>
                </a:solidFill>
              </a:rPr>
              <a:t>09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WHAT YOU'RE BUYING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Everything. Turnkey. Ready to launch.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19456" cy="219456"/>
          </a:xfrm>
          <a:prstGeom prst="rect">
            <a:avLst/>
          </a:prstGeom>
          <a:solidFill>
            <a:srgbClr val="221A5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Full source code (pnpm monorepo — web + mobile)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70048"/>
            <a:ext cx="219456" cy="219456"/>
          </a:xfrm>
          <a:prstGeom prst="rect">
            <a:avLst/>
          </a:prstGeom>
          <a:solidFill>
            <a:srgbClr val="221A5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243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Web app deployed on Vercel (production-ready)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28416"/>
            <a:ext cx="219456" cy="219456"/>
          </a:xfrm>
          <a:prstGeom prst="rect">
            <a:avLst/>
          </a:prstGeom>
          <a:solidFill>
            <a:srgbClr val="221A5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826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Supabase database with full schema + migrations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86784"/>
            <a:ext cx="219456" cy="219456"/>
          </a:xfrm>
          <a:prstGeom prst="rect">
            <a:avLst/>
          </a:prstGeom>
          <a:solidFill>
            <a:srgbClr val="221A5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68496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4106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Clerk authentication (user management, billing-ready)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45152"/>
            <a:ext cx="219456" cy="219456"/>
          </a:xfrm>
          <a:prstGeom prst="rect">
            <a:avLst/>
          </a:prstGeom>
          <a:solidFill>
            <a:srgbClr val="221A5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26864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994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stable. brand assets — logo, wordmark, colour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03520"/>
            <a:ext cx="219456" cy="219456"/>
          </a:xfrm>
          <a:prstGeom prst="rect">
            <a:avLst/>
          </a:prstGeom>
          <a:solidFill>
            <a:srgbClr val="221A5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85232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57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Design system + all approved mockups (web + mobile)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011680"/>
            <a:ext cx="219456" cy="219456"/>
          </a:xfrm>
          <a:prstGeom prst="rect">
            <a:avLst/>
          </a:prstGeom>
          <a:solidFill>
            <a:srgbClr val="221A5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93392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Expo mobile app codebase (in development, handed over)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70048"/>
            <a:ext cx="219456" cy="219456"/>
          </a:xfrm>
          <a:prstGeom prst="rect">
            <a:avLst/>
          </a:prstGeom>
          <a:solidFill>
            <a:srgbClr val="221A5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651760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6243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All 4 features live: Tasks, Focus, Reminders,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328416"/>
            <a:ext cx="219456" cy="219456"/>
          </a:xfrm>
          <a:prstGeom prst="rect">
            <a:avLst/>
          </a:prstGeom>
          <a:solidFill>
            <a:srgbClr val="221A5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310128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2826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tRPC API — fully typed, easy to extend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986784"/>
            <a:ext cx="219456" cy="219456"/>
          </a:xfrm>
          <a:prstGeom prst="rect">
            <a:avLst/>
          </a:prstGeom>
          <a:solidFill>
            <a:srgbClr val="221A5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968496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94106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Stripe-ready billing integration points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645152"/>
            <a:ext cx="219456" cy="219456"/>
          </a:xfrm>
          <a:prstGeom prst="rect">
            <a:avLst/>
          </a:prstGeom>
          <a:solidFill>
            <a:srgbClr val="221A5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626864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5994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30-day handover support from original developer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303520"/>
            <a:ext cx="219456" cy="219456"/>
          </a:xfrm>
          <a:prstGeom prst="rect">
            <a:avLst/>
          </a:prstGeom>
          <a:solidFill>
            <a:srgbClr val="221A5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285232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5257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CC"/>
                </a:solidFill>
              </a:rPr>
              <a:t>Full documentation and implementation plans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20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080"/>
                </a:solidFill>
              </a:rPr>
              <a:t>10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INVESTMENT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Own a platform with £1M+ ARR potential.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BBF24"/>
                </a:solidFill>
              </a:rPr>
              <a:t>£65,000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080"/>
                </a:solidFill>
              </a:rPr>
              <a:t>Asking price · one-time payment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11880"/>
            <a:ext cx="5303520" cy="1188720"/>
          </a:xfrm>
          <a:prstGeom prst="rect">
            <a:avLst/>
          </a:prstGeom>
          <a:solidFill>
            <a:srgbClr val="1C160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Why £65k is a bargain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Year 3 revenue projection of £1.08M ARR = 16× return on investment.
Equivalent to hiring one developer for 8 months — except you get a finished product.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937760"/>
            <a:ext cx="5303520" cy="914400"/>
          </a:xfrm>
          <a:prstGeom prst="rect">
            <a:avLst/>
          </a:prstGeom>
          <a:solidFill>
            <a:srgbClr val="16122E"/>
          </a:solidFill>
          <a:ln w="12700">
            <a:solidFill>
              <a:srgbClr val="2A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Payment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080"/>
                </a:solidFill>
              </a:rPr>
              <a:t>Full payment  ·  or 50% upfront + 50% at 6-month milestone (£5k MRR)  ·  Open to discuss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874519"/>
            <a:ext cx="2468880" cy="1645920"/>
          </a:xfrm>
          <a:prstGeom prst="rect">
            <a:avLst/>
          </a:prstGeom>
          <a:solidFill>
            <a:srgbClr val="1612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01167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£1.08M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74319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080"/>
                </a:solidFill>
              </a:rPr>
              <a:t>Projected Year 3 ARR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40" y="1874519"/>
            <a:ext cx="2468880" cy="1645920"/>
          </a:xfrm>
          <a:prstGeom prst="rect">
            <a:avLst/>
          </a:prstGeom>
          <a:solidFill>
            <a:srgbClr val="1612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201167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DE80"/>
                </a:solidFill>
              </a:rPr>
              <a:t>~95%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74319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080"/>
                </a:solidFill>
              </a:rPr>
              <a:t>Gross margin at 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3794759"/>
            <a:ext cx="2468880" cy="1645920"/>
          </a:xfrm>
          <a:prstGeom prst="rect">
            <a:avLst/>
          </a:prstGeom>
          <a:solidFill>
            <a:srgbClr val="1612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93191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BBF24"/>
                </a:solidFill>
              </a:rPr>
              <a:t>16×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6634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080"/>
                </a:solidFill>
              </a:rPr>
              <a:t>ROI on £65k by Year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3794759"/>
            <a:ext cx="2468880" cy="1645920"/>
          </a:xfrm>
          <a:prstGeom prst="rect">
            <a:avLst/>
          </a:prstGeom>
          <a:solidFill>
            <a:srgbClr val="16122E"/>
          </a:solidFill>
          <a:ln w="12700">
            <a:solidFill>
              <a:srgbClr val="6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393191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66080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46634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080"/>
                </a:solidFill>
              </a:rPr>
              <a:t>Technical debt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20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080"/>
                </a:solidFill>
              </a:rPr>
              <a:t>11 /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E1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548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Ready to own this market?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5176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66080"/>
                </a:solidFill>
              </a:rPr>
              <a:t>stable. is a finished product in a massive underserved market.
The team is here for a smooth handover. First serious buyer wins.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657600"/>
            <a:ext cx="5760720" cy="685800"/>
          </a:xfrm>
          <a:prstGeom prst="rect">
            <a:avLst/>
          </a:prstGeom>
          <a:solidFill>
            <a:srgbClr val="6366F1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65760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 in touch to start due diligence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080"/>
                </a:solidFill>
              </a:rPr>
              <a:t>CONFIDENTIAL · NOT FOR DISTRIBUTION · stable.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